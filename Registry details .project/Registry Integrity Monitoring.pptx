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 SemiBold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B74D52-B29B-4313-9399-9287DC7E7977}">
  <a:tblStyle styleId="{D8B74D52-B29B-4313-9399-9287DC7E797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.fntdata"/><Relationship Id="rId22" Type="http://schemas.openxmlformats.org/officeDocument/2006/relationships/font" Target="fonts/UrbanistSemiBold-boldItalic.fntdata"/><Relationship Id="rId21" Type="http://schemas.openxmlformats.org/officeDocument/2006/relationships/font" Target="fonts/UrbanistSemiBold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10" Type="http://schemas.openxmlformats.org/officeDocument/2006/relationships/image" Target="../media/image18.png"/><Relationship Id="rId9" Type="http://schemas.openxmlformats.org/officeDocument/2006/relationships/image" Target="../media/image22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3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2206079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Registry</a:t>
            </a: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Integrity Monitoring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310979"/>
            <a:ext cx="11029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Security Engineering &amp; Endpoint Detection Strategy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4011959"/>
            <a:ext cx="110299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Sabareeshwari 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305276" y="2254746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INTEGRITY MANAGEMENT OVERVIEW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809750" y="3140571"/>
            <a:ext cx="857250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This project engineers a </a:t>
            </a:r>
            <a:r>
              <a:rPr b="0" i="0" lang="en-US" sz="18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Configuration Drift Detection Engine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tailored for Windows endpoints. By establishing forensic-grade baselines of critical system hives, the system identifies </a:t>
            </a:r>
            <a:r>
              <a:rPr b="0" i="0" lang="en-US" sz="18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Indicators of Attack (IoAs)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through recursive integrity verification, specifically targeting unauthorized persistence mechanisms.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00337"/>
            <a:ext cx="5324475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00337"/>
            <a:ext cx="5324475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876300" y="2995612"/>
            <a:ext cx="497062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T1547.001 Autostart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76300" y="3490912"/>
            <a:ext cx="473392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Malware frequently hijacks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Run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RunOnce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keys to achieve execution survivability across system reboots. This monitoring engine focuses on HKLM and HKCU hives to mitigate this primary vector.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581775" y="2995612"/>
            <a:ext cx="497062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T1562.001 Impair Defenses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581775" y="3490912"/>
            <a:ext cx="473392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Detection of unauthorized modifications to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SecurityHealthService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WinDefend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keys, preventing adversaries from blinding resident EDR or Antivirus agents through configuration tampering.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MITRE ATT&amp;CK: PERSISTENCE MECHANICS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581025" y="4586287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Iterative monitoring loop aligned with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Blue Team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detection standards.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581025" y="3452812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517605" y="3367087"/>
            <a:ext cx="26636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Define Sensitive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Hives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3348614" y="3367087"/>
            <a:ext cx="26636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Establish Secure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Baseline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6179622" y="3367087"/>
            <a:ext cx="26636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Continuous Drift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Analysis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9010631" y="3367087"/>
            <a:ext cx="26636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Incident Alerting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&amp; Dispatch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SYSTEM ENGINEERING LIFECYCLE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1792262" y="339566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4623271" y="339566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7454279" y="339566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10285288" y="339566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66975"/>
            <a:ext cx="3549699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224" y="2466975"/>
            <a:ext cx="3549699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466975"/>
            <a:ext cx="3549699" cy="28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752315" y="3362325"/>
            <a:ext cx="320711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Python / Win32 API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828675" y="3771900"/>
            <a:ext cx="305439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Utilization of winreg module for low-level system configuration access and recursive key enumeration.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4492514" y="3362325"/>
            <a:ext cx="320711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JSON Artifacts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568874" y="3771900"/>
            <a:ext cx="3054399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Secure serialization of system state into schema-validated JSON baselines for persistent integrity checking.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232714" y="3362325"/>
            <a:ext cx="320711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WinAPI Handlers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309074" y="3771900"/>
            <a:ext cx="305439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Leveraging EnumKey and EnumValue for high-fidelity data retrieval across the registry manager.</a:t>
            </a:r>
            <a:endParaRPr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89112" y="27432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9312" y="27432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1887" y="27432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SECURITY ENGINEERING STACK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86000"/>
            <a:ext cx="5324475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86000"/>
            <a:ext cx="5324475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876300" y="2581275"/>
            <a:ext cx="497062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Differential Logic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76300" y="3076575"/>
            <a:ext cx="473392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system utilizes a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Dictionary-based Delta Comparison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By mapping registry paths to unique key-value pairs, the engine achieves O(1) lookup efficiency for change detection.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581775" y="2581275"/>
            <a:ext cx="497062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Detection Taxonomy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581775" y="3076575"/>
            <a:ext cx="47339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comparison logic strictly classifies drift into three operational states: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1209675" y="4333875"/>
            <a:ext cx="4400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Interval: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5.0s High-Frequency Polling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1209675" y="4743450"/>
            <a:ext cx="4400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Storage: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Key-Path JSON Schema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915150" y="3800475"/>
            <a:ext cx="4400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ADDED: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New artifact detected (Persistence IoA)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915150" y="4210050"/>
            <a:ext cx="4400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MODIFIED: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Existing config tampered (Evasion)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915150" y="4619625"/>
            <a:ext cx="4400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DELETED: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Security control removed (Blinding)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43767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478631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8433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42529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1775" y="46624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ENGINE LOGIC &amp; DATA STRUCTURES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1295400" y="2719387"/>
            <a:ext cx="88106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Baseline Serialization: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Captures a "Known-Good" system state into encrypted or restricted JSON structures on the local host.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295400" y="3395662"/>
            <a:ext cx="88106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Recursive Hive Traversal: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Deep-scan engine that navigates through nested subkeys to ensure zero visibility gaps in configuration hives.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295400" y="4071937"/>
            <a:ext cx="88106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Alert Generation Mechanism: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Immediate dispatch of event metadata to localized logging and console interfaces upon delta detection.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295400" y="4748212"/>
            <a:ext cx="88106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Forensic Logging: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Archival of Path, Old_Value, New_Value, and Timestamp for post-incident RCA.</a:t>
            </a:r>
            <a:endParaRPr/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025" y="27622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4385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1148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479107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CORE DETECTION MODULES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81025" y="1000125"/>
            <a:ext cx="5190648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DEMONSTRATION &amp; LATENCY</a:t>
            </a:r>
            <a:endParaRPr/>
          </a:p>
        </p:txBody>
      </p:sp>
      <p:pic>
        <p:nvPicPr>
          <p:cNvPr descr="image.png" id="183" name="Google Shape;1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581025" y="2390775"/>
            <a:ext cx="51906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Persistence Injection Test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81025" y="2800350"/>
            <a:ext cx="49434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Scenario: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Manual injection of an unsigned binary into HKCU\Software\Microsoft\Windows\Run.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81025" y="4924425"/>
            <a:ext cx="494347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Alerting Mechanism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successfully captured the delta between the baseline and the unauthorized state, providing a high-fidelity signal for incident response.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914400" y="3724275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Detection Latency: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&lt; 5.0 Seconds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914400" y="4133850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Alert Trigger: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Automated Console/Log Dispatch</a:t>
            </a:r>
            <a:endParaRPr/>
          </a:p>
        </p:txBody>
      </p:sp>
      <p:pic>
        <p:nvPicPr>
          <p:cNvPr descr="image.png" id="189" name="Google Shape;1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7671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7671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" name="Google Shape;196;p21"/>
          <p:cNvGraphicFramePr/>
          <p:nvPr/>
        </p:nvGraphicFramePr>
        <p:xfrm>
          <a:off x="581025" y="24907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{D8B74D52-B29B-4313-9399-9287DC7E7977}</a:tableStyleId>
              </a:tblPr>
              <a:tblGrid>
                <a:gridCol w="3336275"/>
                <a:gridCol w="3960900"/>
                <a:gridCol w="3732750"/>
              </a:tblGrid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Monitoring Hive Path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Threat Profile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Security Logic Applied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Run / RunOnce Keys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Persistence / Auto-Restart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Added-Value Detection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Winlogon / Shell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Privilege Escalation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Modification Verification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FirewallPolicy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EDR Blinding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Integrity Baseline Check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UAC Behavior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Credential Access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Policy Drift Monitoring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21"/>
          <p:cNvSpPr/>
          <p:nvPr/>
        </p:nvSpPr>
        <p:spPr>
          <a:xfrm>
            <a:off x="581025" y="3552825"/>
            <a:ext cx="333628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3917305" y="3552825"/>
            <a:ext cx="396091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7878216" y="3552825"/>
            <a:ext cx="373275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81025" y="4114800"/>
            <a:ext cx="333628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3917305" y="4114800"/>
            <a:ext cx="396091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7878216" y="4114800"/>
            <a:ext cx="373275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81025" y="4676775"/>
            <a:ext cx="333628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3917305" y="4676775"/>
            <a:ext cx="396091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7878216" y="4676775"/>
            <a:ext cx="373275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81025" y="5238750"/>
            <a:ext cx="333628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3917305" y="5238750"/>
            <a:ext cx="396091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7878216" y="5238750"/>
            <a:ext cx="373275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COVERAGE MATRIX: CRITICAL HIVES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00337"/>
            <a:ext cx="5324475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00337"/>
            <a:ext cx="5324475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876300" y="2995612"/>
            <a:ext cx="497062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Operational Gaps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876300" y="3490912"/>
            <a:ext cx="473392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Current limitations include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Kernel-Level Blindness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(Direct memory modification) and User-Mode polling latency. Systems using Registry Symlinks may potentially evade basic polling logic.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581775" y="2995612"/>
            <a:ext cx="497062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Future Hardening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581775" y="3490912"/>
            <a:ext cx="473392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Integration with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ETW (Event Tracing for Windows)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for event-driven real-time detection and automated containment through API-triggered process termination.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SYSTEM ROADMAP &amp; CONSTRAINTS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581025" y="2881312"/>
            <a:ext cx="441186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81025" y="4405312"/>
            <a:ext cx="44118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Integrity Assurance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564385" y="2905125"/>
            <a:ext cx="63489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5564385" y="3314700"/>
            <a:ext cx="6046589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Registry Monitoring System significantly reduces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Dwell Time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by establishing hard-coded integrity baselines. By shifting from manual auditing to an automated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Security Engineering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approach, endpoints are effectively hardened against unauthorized persistence and stealthy configuration tampering.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ENDPOINT SECURITY IMPACT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305276" y="2025997"/>
            <a:ext cx="11581447" cy="126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581025" y="3483322"/>
            <a:ext cx="11029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Registry Integrity Monitoring | Blue Team Strategy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581025" y="4374802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Sabareeshwari 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